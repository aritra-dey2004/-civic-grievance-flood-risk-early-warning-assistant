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31920"/>
            <a:ext cx="5029200" cy="5029200"/>
          </a:xfrm>
          <a:prstGeom prst="ellipse">
            <a:avLst/>
          </a:prstGeom>
          <a:solidFill>
            <a:srgbClr val="0B55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120640"/>
            <a:ext cx="2743200" cy="2743200"/>
          </a:xfrm>
          <a:prstGeom prst="ellipse">
            <a:avLst/>
          </a:prstGeom>
          <a:solidFill>
            <a:srgbClr val="14848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4848C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SUSTAINABLE CITIES     SDG 13 · CLIMATE ACTION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Civic Grievance Triage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Flood-Risk Early-Warning System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civic complaints and detecting early flood risk across Indian cities — from a photo, a message, or both.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37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Aritra Dey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  —  MCKV Institute of Engineering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—  in collaboration with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react to floods. They rarely see them coming.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492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report civic issues — broken streetlights, uncollected garbage, blocked drains — through channels that get sorted manually. It's slow, and it misses patterns. Flood risk in low-lying wards is usually only recognized after a street has already flooded, even though the warning signs are visible beforehand: a cluster of waterlogging complaints, rising rainfall, a drain reported blocked twice in a week.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6492240" cy="1691640"/>
          </a:xfrm>
          <a:prstGeom prst="roundRect">
            <a:avLst>
              <a:gd name="adj" fmla="val 6486"/>
            </a:avLst>
          </a:prstGeom>
          <a:solidFill>
            <a:srgbClr val="F3F8F8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28032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might we use AI to triage civic complaints and detect early flood/waterlogging risk, so that city departments respond faster and residents get advance warning before an area floods?”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43800" y="1874520"/>
            <a:ext cx="3977640" cy="1874520"/>
          </a:xfrm>
          <a:prstGeom prst="roundRect">
            <a:avLst>
              <a:gd name="adj" fmla="val 5854"/>
            </a:avLst>
          </a:prstGeom>
          <a:solidFill>
            <a:srgbClr val="0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1488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icons/city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881" y="2249881"/>
            <a:ext cx="575158" cy="5751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82396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2542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Communities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43800" y="3931920"/>
            <a:ext cx="3977640" cy="1874520"/>
          </a:xfrm>
          <a:prstGeom prst="roundRect">
            <a:avLst>
              <a:gd name="adj" fmla="val 5854"/>
            </a:avLst>
          </a:prstGeom>
          <a:solidFill>
            <a:srgbClr val="2E8B57"/>
          </a:solidFill>
          <a:ln/>
        </p:spPr>
      </p:sp>
      <p:sp>
        <p:nvSpPr>
          <p:cNvPr id="15" name="Shape 12"/>
          <p:cNvSpPr/>
          <p:nvPr/>
        </p:nvSpPr>
        <p:spPr>
          <a:xfrm>
            <a:off x="7863840" y="4206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icons/leaf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81" y="4307281"/>
            <a:ext cx="575158" cy="57515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8239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45994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86384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SDG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 &amp; WHY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audiences, one blind spot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7FBFB"/>
          </a:solidFill>
          <a:ln w="12700">
            <a:solidFill>
              <a:srgbClr val="E3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22379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Affected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294436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27432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low-lying, drainage-poor wards across Indian cities — the first to feel a flood and the last to be warned.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361688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41605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departments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currently sort complaints manually, with no signal that tells them where flooding is building up.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0B5563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robot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834" y="2237994"/>
            <a:ext cx="507492" cy="5074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Is Needed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880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Individually, complaint text, photos, and rainfall numbers are just noise.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5204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and routes complaints instantly — from text or a photo — and turns a cluster of waterlogging reports plus rising rainfall in one ward into an early flood signal no single complaint reveals on its own.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120640"/>
            <a:ext cx="4434840" cy="0"/>
          </a:xfrm>
          <a:prstGeom prst="line">
            <a:avLst/>
          </a:prstGeom>
          <a:noFill/>
          <a:ln w="12700">
            <a:solidFill>
              <a:srgbClr val="3D7A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0" y="53035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decision support — AI surfaces the signal; people still make the call.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report to a city-wide early warning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0B5563"/>
          </a:solidFill>
          <a:ln/>
        </p:spPr>
      </p:sp>
      <p:sp>
        <p:nvSpPr>
          <p:cNvPr id="5" name="Shape 3"/>
          <p:cNvSpPr/>
          <p:nvPr/>
        </p:nvSpPr>
        <p:spPr>
          <a:xfrm>
            <a:off x="1362456" y="22219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omment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554" y="2317090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4728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submits text,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photo, or both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5400000">
            <a:off x="2770632" y="2953512"/>
            <a:ext cx="164592" cy="201168"/>
          </a:xfrm>
          <a:prstGeom prst="triangle">
            <a:avLst/>
          </a:prstGeom>
          <a:solidFill>
            <a:srgbClr val="5A6B6E"/>
          </a:solidFill>
          <a:ln/>
        </p:spPr>
      </p:sp>
      <p:sp>
        <p:nvSpPr>
          <p:cNvPr id="10" name="Shape 7"/>
          <p:cNvSpPr/>
          <p:nvPr/>
        </p:nvSpPr>
        <p:spPr>
          <a:xfrm>
            <a:off x="2935224" y="196596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4848C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2219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robot_second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2317090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5224" y="3063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26664" y="344728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AI reads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category + urgency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5400000">
            <a:off x="5020056" y="2953512"/>
            <a:ext cx="164592" cy="201168"/>
          </a:xfrm>
          <a:prstGeom prst="triangle">
            <a:avLst/>
          </a:prstGeom>
          <a:solidFill>
            <a:srgbClr val="5A6B6E"/>
          </a:solidFill>
          <a:ln/>
        </p:spPr>
      </p:sp>
      <p:sp>
        <p:nvSpPr>
          <p:cNvPr id="16" name="Shape 12"/>
          <p:cNvSpPr/>
          <p:nvPr/>
        </p:nvSpPr>
        <p:spPr>
          <a:xfrm>
            <a:off x="5184648" y="196596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0B5563"/>
          </a:solidFill>
          <a:ln/>
        </p:spPr>
      </p:sp>
      <p:sp>
        <p:nvSpPr>
          <p:cNvPr id="17" name="Shape 13"/>
          <p:cNvSpPr/>
          <p:nvPr/>
        </p:nvSpPr>
        <p:spPr>
          <a:xfrm>
            <a:off x="5861304" y="22219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ons/rout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02" y="2317090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84648" y="3063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&amp; Alert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76088" y="344728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right dept.,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a priority alert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5400000">
            <a:off x="7269480" y="2953512"/>
            <a:ext cx="164592" cy="201168"/>
          </a:xfrm>
          <a:prstGeom prst="triangle">
            <a:avLst/>
          </a:prstGeom>
          <a:solidFill>
            <a:srgbClr val="5A6B6E"/>
          </a:solidFill>
          <a:ln/>
        </p:spPr>
      </p:sp>
      <p:sp>
        <p:nvSpPr>
          <p:cNvPr id="22" name="Shape 17"/>
          <p:cNvSpPr/>
          <p:nvPr/>
        </p:nvSpPr>
        <p:spPr>
          <a:xfrm>
            <a:off x="7434072" y="196596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4848C"/>
          </a:solidFill>
          <a:ln/>
        </p:spPr>
      </p:sp>
      <p:sp>
        <p:nvSpPr>
          <p:cNvPr id="23" name="Shape 18"/>
          <p:cNvSpPr/>
          <p:nvPr/>
        </p:nvSpPr>
        <p:spPr>
          <a:xfrm>
            <a:off x="8110728" y="22219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cloudrain_second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826" y="2317090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34072" y="3063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25512" y="344728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Flood-related reports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rainfall, per ward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5400000">
            <a:off x="9518904" y="2953512"/>
            <a:ext cx="164592" cy="201168"/>
          </a:xfrm>
          <a:prstGeom prst="triangle">
            <a:avLst/>
          </a:prstGeom>
          <a:solidFill>
            <a:srgbClr val="5A6B6E"/>
          </a:solidFill>
          <a:ln/>
        </p:spPr>
      </p:sp>
      <p:sp>
        <p:nvSpPr>
          <p:cNvPr id="28" name="Shape 22"/>
          <p:cNvSpPr/>
          <p:nvPr/>
        </p:nvSpPr>
        <p:spPr>
          <a:xfrm>
            <a:off x="9683496" y="196596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0B5563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60152" y="22219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icons/chartline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5250" y="2317090"/>
            <a:ext cx="541325" cy="54132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83496" y="3063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Flag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74936" y="344728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 —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wards flagged live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85800" y="4709160"/>
            <a:ext cx="10835640" cy="1371600"/>
          </a:xfrm>
          <a:prstGeom prst="roundRect">
            <a:avLst>
              <a:gd name="adj" fmla="val 6667"/>
            </a:avLst>
          </a:prstGeom>
          <a:solidFill>
            <a:srgbClr val="F3F8F8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5" name="Image 5" descr="icons/triang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" y="5009083"/>
            <a:ext cx="405994" cy="40599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691640" y="4864608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always wins: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exposed live wires (especially near water), gas leaks, or structural collapse are classified as Emergency/Life-Threatening with High urgency — no matter what else is in the text or image. Life-safety signals are never allowed to be silently downgraded by a routine keyword.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an issue — classified and routed instantly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7680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9050">
            <a:solidFill>
              <a:srgbClr val="D5E3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2E">
                <a:alpha val="18000"/>
              </a:srgbClr>
            </a:outerShdw>
          </a:effectLst>
        </p:spPr>
      </p:sp>
      <p:pic>
        <p:nvPicPr>
          <p:cNvPr id="5" name="Image 0" descr="/mnt/user-data/uploads/178992554935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7406640" cy="4434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9536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95360" y="2240280"/>
            <a:ext cx="502920" cy="502920"/>
          </a:xfrm>
          <a:prstGeom prst="ellipse">
            <a:avLst/>
          </a:prstGeom>
          <a:solidFill>
            <a:srgbClr val="F3F8F8"/>
          </a:solidFill>
          <a:ln/>
        </p:spPr>
      </p:sp>
      <p:pic>
        <p:nvPicPr>
          <p:cNvPr id="8" name="Image 1" descr="icons/camera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740" y="23056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53728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253728" y="25328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photo, or both — Gemini Vision classifies the image directly.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95360" y="3474720"/>
            <a:ext cx="502920" cy="502920"/>
          </a:xfrm>
          <a:prstGeom prst="ellipse">
            <a:avLst/>
          </a:prstGeom>
          <a:solidFill>
            <a:srgbClr val="F3F8F8"/>
          </a:solidFill>
          <a:ln/>
        </p:spPr>
      </p:sp>
      <p:pic>
        <p:nvPicPr>
          <p:cNvPr id="12" name="Image 2" descr="icons/rout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740" y="354010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53728" y="34472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routing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253728" y="37673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and sent to the correct department the moment it's submitted.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595360" y="4709160"/>
            <a:ext cx="502920" cy="502920"/>
          </a:xfrm>
          <a:prstGeom prst="ellipse">
            <a:avLst/>
          </a:prstGeom>
          <a:solidFill>
            <a:srgbClr val="F3F8F8"/>
          </a:solidFill>
          <a:ln/>
        </p:spPr>
      </p:sp>
      <p:pic>
        <p:nvPicPr>
          <p:cNvPr id="16" name="Image 3" descr="icons/bell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740" y="4774540"/>
            <a:ext cx="372161" cy="37216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53728" y="4681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alerting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9253728" y="50017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raises a timestamped, priority-tagged alert.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Ward-level flood risk — updates the moment a report comes 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9050">
            <a:solidFill>
              <a:srgbClr val="D5E3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2E">
                <a:alpha val="18000"/>
              </a:srgbClr>
            </a:outerShdw>
          </a:effectLst>
        </p:spPr>
      </p:sp>
      <p:pic>
        <p:nvPicPr>
          <p:cNvPr id="5" name="Image 0" descr="/mnt/user-data/uploads/178992556404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1069848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· 16 wards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complaint is classified once, cached, then combined live with rainfall data and any new submissions. No manual refresh.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alerts, and the reasoning behind every score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9050">
            <a:solidFill>
              <a:srgbClr val="D5E3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2E">
                <a:alpha val="15000"/>
              </a:srgbClr>
            </a:outerShdw>
          </a:effectLst>
        </p:spPr>
      </p:sp>
      <p:pic>
        <p:nvPicPr>
          <p:cNvPr id="5" name="Image 0" descr="/mnt/user-data/uploads/178992558866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51663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9050">
            <a:solidFill>
              <a:srgbClr val="D5E3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2E">
                <a:alpha val="15000"/>
              </a:srgbClr>
            </a:outerShdw>
          </a:effectLst>
        </p:spPr>
      </p:sp>
      <p:pic>
        <p:nvPicPr>
          <p:cNvPr id="7" name="Image 1" descr="/mnt/user-data/uploads/1789925605611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37360"/>
            <a:ext cx="5166360" cy="4160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605332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 — in-app, timestamped, department-routed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605332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shows its own reasoning — in-app, not hidden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checked, not just trusted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7FBFB"/>
          </a:solidFill>
          <a:ln w="12700">
            <a:solidFill>
              <a:srgbClr val="E3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2261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76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aren't based on complaint volume alone — wealthier or more vocal wards may over-report relative to their real risk. A known limitation of citizen-reported signals, stated plainly.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7FBFB"/>
          </a:solidFill>
          <a:ln w="12700">
            <a:solidFill>
              <a:srgbClr val="E3ED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48840"/>
            <a:ext cx="594360" cy="5943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1" name="Image 1" descr="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07" y="222610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76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88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 shows exactly which numbers produced it — complaint count and peak rainfall — rather than hiding behind a black-box model.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7FBFB"/>
          </a:solidFill>
          <a:ln w="12700">
            <a:solidFill>
              <a:srgbClr val="E3ED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526280"/>
            <a:ext cx="594360" cy="5943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6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460354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5537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1663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 data is fully synthetic. A real deployment would anonymize complaints and photos before any ward-level analysis — no personal identifiers feed the model.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7FBFB"/>
          </a:solidFill>
          <a:ln w="12700">
            <a:solidFill>
              <a:srgbClr val="E3ED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526280"/>
            <a:ext cx="594360" cy="5943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1" name="Image 3" descr="icons/hand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507" y="460354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5537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1663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department decision-makers; it does not replace them. The alert log is a routing aid — final action always stays with people.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and what's honestly still ahead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B55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resolution of everyday civic complaints, and a low-cost early-warning layer for flood-prone wards across multiple cities where none exists today — cutting response time to both routine issues and climate-driven flood risk.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UP FRONT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995928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8221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 data is synthetic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complaints and rainfall figures stand in for real deployment history.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562856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3891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logged in-app, not sent as SMS/email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next step, not a hidden gap.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512978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9560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score is an explainable heuristic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trained predictive model — by design, so it stays auditable.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552297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Gemini/Groq today, not IBM Granite/watsonx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hybrid-provider design isolates the LLM call behind one interface, so swapping providers is a config change, not a rebuild.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B55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848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Civic Grievance Triage &amp; Flood-Risk Early-Warning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82880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Aritra Dey  ·  B.Tech CSE, MCKV Institute of Engineering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—  IBM SkillsBuild &amp; AICTE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2026-09-20T17:58:05Z</dcterms:created>
  <dcterms:modified xsi:type="dcterms:W3CDTF">2026-09-20T17:58:05Z</dcterms:modified>
</cp:coreProperties>
</file>